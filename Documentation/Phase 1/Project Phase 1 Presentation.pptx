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Lato"/>
      <p:regular r:id="rId22"/>
      <p:bold r:id="rId23"/>
      <p:italic r:id="rId24"/>
      <p:boldItalic r:id="rId25"/>
    </p:embeddedFont>
    <p:embeddedFont>
      <p:font typeface="Vidaloka"/>
      <p:regular r:id="rId26"/>
    </p:embeddedFont>
    <p:embeddedFont>
      <p:font typeface="Tino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ato-regular.fntdata"/><Relationship Id="rId21" Type="http://schemas.openxmlformats.org/officeDocument/2006/relationships/slide" Target="slides/slide16.xml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Vidaloka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Tinos-bold.fntdata"/><Relationship Id="rId27" Type="http://schemas.openxmlformats.org/officeDocument/2006/relationships/font" Target="fonts/Tino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Tino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Tino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a2d14ee9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a2d14ee9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a31f5d28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a31f5d28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a2b0ef5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a2b0ef5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a31f5d28e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a31f5d28e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a3a0cfe0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a3a0cfe0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rPr>
              <a:t>Our system will be built using a modular architecture. Each module has a specific responsibility to ensure organization, scalability, and maintainability.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a2d14ee99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a2d14ee99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a1da8e9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a1da8e9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a31f5d28e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a31f5d28e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a2d14ee99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a2d14ee99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f4a27496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f4a27496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f4a2749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f4a2749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f4a27496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f4a27496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f4da74d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f4da74d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f4a27496f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f4a27496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f4a27496f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f4a27496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f4a27496f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bf4a27496f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2918075" y="917875"/>
            <a:ext cx="3307800" cy="3307800"/>
          </a:xfrm>
          <a:prstGeom prst="rect">
            <a:avLst/>
          </a:prstGeom>
          <a:solidFill>
            <a:schemeClr val="accent2"/>
          </a:solidFill>
          <a:ln cap="flat" cmpd="sng" w="1524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17625" y="1206625"/>
            <a:ext cx="2708700" cy="273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2918075" y="917875"/>
            <a:ext cx="3307800" cy="3307800"/>
          </a:xfrm>
          <a:prstGeom prst="rect">
            <a:avLst/>
          </a:prstGeom>
          <a:solidFill>
            <a:schemeClr val="accent2"/>
          </a:solidFill>
          <a:ln cap="flat" cmpd="sng" w="1524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 txBox="1"/>
          <p:nvPr>
            <p:ph type="ctrTitle"/>
          </p:nvPr>
        </p:nvSpPr>
        <p:spPr>
          <a:xfrm>
            <a:off x="3258675" y="1643125"/>
            <a:ext cx="26268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258675" y="3068654"/>
            <a:ext cx="26268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i="1" sz="1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i="1" sz="1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i="1" sz="1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i="1" sz="1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i="1" sz="1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i="1" sz="1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i="1" sz="1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i="1" sz="1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i="1" sz="1400">
                <a:solidFill>
                  <a:srgbClr val="FFFFFF"/>
                </a:solidFill>
              </a:defRPr>
            </a:lvl9pPr>
          </a:lstStyle>
          <a:p/>
        </p:txBody>
      </p:sp>
      <p:grpSp>
        <p:nvGrpSpPr>
          <p:cNvPr id="17" name="Google Shape;17;p3"/>
          <p:cNvGrpSpPr/>
          <p:nvPr/>
        </p:nvGrpSpPr>
        <p:grpSpPr>
          <a:xfrm>
            <a:off x="4414050" y="2903550"/>
            <a:ext cx="315900" cy="98400"/>
            <a:chOff x="4414050" y="1436450"/>
            <a:chExt cx="315900" cy="98400"/>
          </a:xfrm>
        </p:grpSpPr>
        <p:cxnSp>
          <p:nvCxnSpPr>
            <p:cNvPr id="18" name="Google Shape;18;p3"/>
            <p:cNvCxnSpPr/>
            <p:nvPr/>
          </p:nvCxnSpPr>
          <p:spPr>
            <a:xfrm>
              <a:off x="4414050" y="1485650"/>
              <a:ext cx="315900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19" name="Google Shape;19;p3"/>
            <p:cNvSpPr/>
            <p:nvPr/>
          </p:nvSpPr>
          <p:spPr>
            <a:xfrm>
              <a:off x="4522800" y="1436450"/>
              <a:ext cx="98400" cy="98400"/>
            </a:xfrm>
            <a:prstGeom prst="diamond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solidFill>
          <a:schemeClr val="accen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2682794" y="682601"/>
            <a:ext cx="3778500" cy="3778500"/>
          </a:xfrm>
          <a:prstGeom prst="rect">
            <a:avLst/>
          </a:prstGeom>
          <a:solidFill>
            <a:schemeClr val="accent2"/>
          </a:solidFill>
          <a:ln cap="flat" cmpd="sng" w="1524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2971400" y="1313275"/>
            <a:ext cx="3201300" cy="252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68300" lvl="0" marL="457200" rtl="0" algn="ctr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200"/>
              <a:buChar char="⬗"/>
              <a:defRPr i="1">
                <a:solidFill>
                  <a:srgbClr val="FFFFFF"/>
                </a:solidFill>
              </a:defRPr>
            </a:lvl1pPr>
            <a:lvl2pPr indent="-3683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◇"/>
              <a:defRPr i="1">
                <a:solidFill>
                  <a:srgbClr val="FFFFFF"/>
                </a:solidFill>
              </a:defRPr>
            </a:lvl2pPr>
            <a:lvl3pPr indent="-3683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◇"/>
              <a:defRPr i="1">
                <a:solidFill>
                  <a:srgbClr val="FFFFFF"/>
                </a:solidFill>
              </a:defRPr>
            </a:lvl3pPr>
            <a:lvl4pPr indent="-3683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◇"/>
              <a:defRPr i="1">
                <a:solidFill>
                  <a:srgbClr val="FFFFFF"/>
                </a:solidFill>
              </a:defRPr>
            </a:lvl4pPr>
            <a:lvl5pPr indent="-3683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◇"/>
              <a:defRPr i="1">
                <a:solidFill>
                  <a:srgbClr val="FFFFFF"/>
                </a:solidFill>
              </a:defRPr>
            </a:lvl5pPr>
            <a:lvl6pPr indent="-3683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◇"/>
              <a:defRPr i="1">
                <a:solidFill>
                  <a:srgbClr val="FFFFFF"/>
                </a:solidFill>
              </a:defRPr>
            </a:lvl6pPr>
            <a:lvl7pPr indent="-3683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◇"/>
              <a:defRPr i="1">
                <a:solidFill>
                  <a:srgbClr val="FFFFFF"/>
                </a:solidFill>
              </a:defRPr>
            </a:lvl7pPr>
            <a:lvl8pPr indent="-3683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◇"/>
              <a:defRPr i="1">
                <a:solidFill>
                  <a:srgbClr val="FFFFFF"/>
                </a:solidFill>
              </a:defRPr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◇"/>
              <a:defRPr i="1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/>
        </p:nvSpPr>
        <p:spPr>
          <a:xfrm>
            <a:off x="3593400" y="7051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Tinos"/>
                <a:ea typeface="Tinos"/>
                <a:cs typeface="Tinos"/>
                <a:sym typeface="Tinos"/>
              </a:rPr>
              <a:t>“</a:t>
            </a:r>
            <a:endParaRPr sz="6000">
              <a:solidFill>
                <a:srgbClr val="FFFFFF"/>
              </a:solidFill>
              <a:latin typeface="Tinos"/>
              <a:ea typeface="Tinos"/>
              <a:cs typeface="Tinos"/>
              <a:sym typeface="Tinos"/>
            </a:endParaRPr>
          </a:p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4414050" y="4046550"/>
            <a:ext cx="315900" cy="98400"/>
            <a:chOff x="4414050" y="1436450"/>
            <a:chExt cx="315900" cy="98400"/>
          </a:xfrm>
        </p:grpSpPr>
        <p:cxnSp>
          <p:nvCxnSpPr>
            <p:cNvPr id="26" name="Google Shape;26;p4"/>
            <p:cNvCxnSpPr/>
            <p:nvPr/>
          </p:nvCxnSpPr>
          <p:spPr>
            <a:xfrm>
              <a:off x="4414050" y="1485650"/>
              <a:ext cx="315900" cy="0"/>
            </a:xfrm>
            <a:prstGeom prst="straightConnector1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27" name="Google Shape;27;p4"/>
            <p:cNvSpPr/>
            <p:nvPr/>
          </p:nvSpPr>
          <p:spPr>
            <a:xfrm>
              <a:off x="4522800" y="1436450"/>
              <a:ext cx="98400" cy="98400"/>
            </a:xfrm>
            <a:prstGeom prst="diamond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bg>
      <p:bgPr>
        <a:solidFill>
          <a:srgbClr val="9E7C59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554700" y="544650"/>
            <a:ext cx="8034600" cy="4054200"/>
          </a:xfrm>
          <a:prstGeom prst="rect">
            <a:avLst/>
          </a:prstGeom>
          <a:solidFill>
            <a:srgbClr val="EFEFEF"/>
          </a:solidFill>
          <a:ln cap="flat" cmpd="sng" w="1143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 txBox="1"/>
          <p:nvPr>
            <p:ph type="title"/>
          </p:nvPr>
        </p:nvSpPr>
        <p:spPr>
          <a:xfrm>
            <a:off x="902900" y="742300"/>
            <a:ext cx="7338300" cy="6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902900" y="1598734"/>
            <a:ext cx="7338300" cy="26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600"/>
              </a:spcBef>
              <a:spcAft>
                <a:spcPts val="0"/>
              </a:spcAft>
              <a:buClr>
                <a:srgbClr val="9E7C59"/>
              </a:buClr>
              <a:buSzPts val="2200"/>
              <a:buChar char="⬗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4414050" y="1316883"/>
            <a:ext cx="315900" cy="98400"/>
            <a:chOff x="4414050" y="1436450"/>
            <a:chExt cx="315900" cy="98400"/>
          </a:xfrm>
        </p:grpSpPr>
        <p:cxnSp>
          <p:nvCxnSpPr>
            <p:cNvPr id="34" name="Google Shape;34;p5"/>
            <p:cNvCxnSpPr/>
            <p:nvPr/>
          </p:nvCxnSpPr>
          <p:spPr>
            <a:xfrm>
              <a:off x="4414050" y="1485650"/>
              <a:ext cx="315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5" name="Google Shape;35;p5"/>
            <p:cNvSpPr/>
            <p:nvPr/>
          </p:nvSpPr>
          <p:spPr>
            <a:xfrm>
              <a:off x="4522800" y="1436450"/>
              <a:ext cx="98400" cy="98400"/>
            </a:xfrm>
            <a:prstGeom prst="diamond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half slide">
  <p:cSld name="TITLE_AND_BODY_1">
    <p:bg>
      <p:bgPr>
        <a:solidFill>
          <a:srgbClr val="9E7C59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>
            <a:off x="554700" y="544650"/>
            <a:ext cx="4025400" cy="4054200"/>
          </a:xfrm>
          <a:prstGeom prst="rect">
            <a:avLst/>
          </a:prstGeom>
          <a:solidFill>
            <a:srgbClr val="EFEFEF"/>
          </a:solidFill>
          <a:ln cap="flat" cmpd="sng" w="1143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902900" y="742300"/>
            <a:ext cx="3291600" cy="6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902900" y="1598730"/>
            <a:ext cx="3291600" cy="26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600"/>
              </a:spcBef>
              <a:spcAft>
                <a:spcPts val="0"/>
              </a:spcAft>
              <a:buClr>
                <a:srgbClr val="9E7C59"/>
              </a:buClr>
              <a:buSzPts val="2200"/>
              <a:buChar char="⬗"/>
              <a:defRPr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◇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1" name="Google Shape;41;p6"/>
          <p:cNvGrpSpPr/>
          <p:nvPr/>
        </p:nvGrpSpPr>
        <p:grpSpPr>
          <a:xfrm>
            <a:off x="2409450" y="1316883"/>
            <a:ext cx="315900" cy="98400"/>
            <a:chOff x="4414050" y="1436450"/>
            <a:chExt cx="315900" cy="98400"/>
          </a:xfrm>
        </p:grpSpPr>
        <p:cxnSp>
          <p:nvCxnSpPr>
            <p:cNvPr id="42" name="Google Shape;42;p6"/>
            <p:cNvCxnSpPr/>
            <p:nvPr/>
          </p:nvCxnSpPr>
          <p:spPr>
            <a:xfrm>
              <a:off x="4414050" y="1485650"/>
              <a:ext cx="315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43" name="Google Shape;43;p6"/>
            <p:cNvSpPr/>
            <p:nvPr/>
          </p:nvSpPr>
          <p:spPr>
            <a:xfrm>
              <a:off x="4522800" y="1436450"/>
              <a:ext cx="98400" cy="98400"/>
            </a:xfrm>
            <a:prstGeom prst="diamond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/>
        </p:nvSpPr>
        <p:spPr>
          <a:xfrm>
            <a:off x="554700" y="544650"/>
            <a:ext cx="8034600" cy="4054200"/>
          </a:xfrm>
          <a:prstGeom prst="rect">
            <a:avLst/>
          </a:prstGeom>
          <a:solidFill>
            <a:srgbClr val="EFEFEF"/>
          </a:solidFill>
          <a:ln cap="flat" cmpd="sng" w="1143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7"/>
          <p:cNvGrpSpPr/>
          <p:nvPr/>
        </p:nvGrpSpPr>
        <p:grpSpPr>
          <a:xfrm>
            <a:off x="4414050" y="1316883"/>
            <a:ext cx="315900" cy="98400"/>
            <a:chOff x="4414050" y="1436450"/>
            <a:chExt cx="315900" cy="98400"/>
          </a:xfrm>
        </p:grpSpPr>
        <p:cxnSp>
          <p:nvCxnSpPr>
            <p:cNvPr id="47" name="Google Shape;47;p7"/>
            <p:cNvCxnSpPr/>
            <p:nvPr/>
          </p:nvCxnSpPr>
          <p:spPr>
            <a:xfrm>
              <a:off x="4414050" y="1485650"/>
              <a:ext cx="315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48" name="Google Shape;48;p7"/>
            <p:cNvSpPr/>
            <p:nvPr/>
          </p:nvSpPr>
          <p:spPr>
            <a:xfrm>
              <a:off x="4522800" y="1436450"/>
              <a:ext cx="98400" cy="98400"/>
            </a:xfrm>
            <a:prstGeom prst="diamond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7"/>
          <p:cNvSpPr txBox="1"/>
          <p:nvPr>
            <p:ph type="title"/>
          </p:nvPr>
        </p:nvSpPr>
        <p:spPr>
          <a:xfrm>
            <a:off x="902900" y="742300"/>
            <a:ext cx="7338300" cy="6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902825" y="1600600"/>
            <a:ext cx="3561900" cy="28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⬗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4679246" y="1600600"/>
            <a:ext cx="3561900" cy="28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⬗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◇"/>
              <a:defRPr sz="1800"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554700" y="544650"/>
            <a:ext cx="8034600" cy="4054200"/>
          </a:xfrm>
          <a:prstGeom prst="rect">
            <a:avLst/>
          </a:prstGeom>
          <a:solidFill>
            <a:srgbClr val="EFEFEF"/>
          </a:solidFill>
          <a:ln cap="flat" cmpd="sng" w="1143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8"/>
          <p:cNvGrpSpPr/>
          <p:nvPr/>
        </p:nvGrpSpPr>
        <p:grpSpPr>
          <a:xfrm>
            <a:off x="4414050" y="1316883"/>
            <a:ext cx="315900" cy="98400"/>
            <a:chOff x="4414050" y="1436450"/>
            <a:chExt cx="315900" cy="98400"/>
          </a:xfrm>
        </p:grpSpPr>
        <p:cxnSp>
          <p:nvCxnSpPr>
            <p:cNvPr id="56" name="Google Shape;56;p8"/>
            <p:cNvCxnSpPr/>
            <p:nvPr/>
          </p:nvCxnSpPr>
          <p:spPr>
            <a:xfrm>
              <a:off x="4414050" y="1485650"/>
              <a:ext cx="315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57" name="Google Shape;57;p8"/>
            <p:cNvSpPr/>
            <p:nvPr/>
          </p:nvSpPr>
          <p:spPr>
            <a:xfrm>
              <a:off x="4522800" y="1436450"/>
              <a:ext cx="98400" cy="98400"/>
            </a:xfrm>
            <a:prstGeom prst="diamond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" name="Google Shape;58;p8"/>
          <p:cNvSpPr txBox="1"/>
          <p:nvPr>
            <p:ph type="title"/>
          </p:nvPr>
        </p:nvSpPr>
        <p:spPr>
          <a:xfrm>
            <a:off x="902900" y="742300"/>
            <a:ext cx="7338300" cy="6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" type="body"/>
          </p:nvPr>
        </p:nvSpPr>
        <p:spPr>
          <a:xfrm>
            <a:off x="902900" y="1592400"/>
            <a:ext cx="2365200" cy="28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⬗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9pPr>
          </a:lstStyle>
          <a:p/>
        </p:txBody>
      </p:sp>
      <p:sp>
        <p:nvSpPr>
          <p:cNvPr id="60" name="Google Shape;60;p8"/>
          <p:cNvSpPr txBox="1"/>
          <p:nvPr>
            <p:ph idx="2" type="body"/>
          </p:nvPr>
        </p:nvSpPr>
        <p:spPr>
          <a:xfrm>
            <a:off x="3389475" y="1592400"/>
            <a:ext cx="2365200" cy="28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⬗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9pPr>
          </a:lstStyle>
          <a:p/>
        </p:txBody>
      </p:sp>
      <p:sp>
        <p:nvSpPr>
          <p:cNvPr id="61" name="Google Shape;61;p8"/>
          <p:cNvSpPr txBox="1"/>
          <p:nvPr>
            <p:ph idx="3" type="body"/>
          </p:nvPr>
        </p:nvSpPr>
        <p:spPr>
          <a:xfrm>
            <a:off x="5876050" y="1592400"/>
            <a:ext cx="2365200" cy="28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⬗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◇"/>
              <a:defRPr sz="1600"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554700" y="544650"/>
            <a:ext cx="8034600" cy="4054200"/>
          </a:xfrm>
          <a:prstGeom prst="rect">
            <a:avLst/>
          </a:prstGeom>
          <a:solidFill>
            <a:srgbClr val="EFEFEF"/>
          </a:solidFill>
          <a:ln cap="flat" cmpd="sng" w="1143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" name="Google Shape;65;p9"/>
          <p:cNvGrpSpPr/>
          <p:nvPr/>
        </p:nvGrpSpPr>
        <p:grpSpPr>
          <a:xfrm>
            <a:off x="4414050" y="1316883"/>
            <a:ext cx="315900" cy="98400"/>
            <a:chOff x="4414050" y="1436450"/>
            <a:chExt cx="315900" cy="98400"/>
          </a:xfrm>
        </p:grpSpPr>
        <p:cxnSp>
          <p:nvCxnSpPr>
            <p:cNvPr id="66" name="Google Shape;66;p9"/>
            <p:cNvCxnSpPr/>
            <p:nvPr/>
          </p:nvCxnSpPr>
          <p:spPr>
            <a:xfrm>
              <a:off x="4414050" y="1485650"/>
              <a:ext cx="315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67" name="Google Shape;67;p9"/>
            <p:cNvSpPr/>
            <p:nvPr/>
          </p:nvSpPr>
          <p:spPr>
            <a:xfrm>
              <a:off x="4522800" y="1436450"/>
              <a:ext cx="98400" cy="98400"/>
            </a:xfrm>
            <a:prstGeom prst="diamond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" name="Google Shape;68;p9"/>
          <p:cNvSpPr txBox="1"/>
          <p:nvPr>
            <p:ph type="title"/>
          </p:nvPr>
        </p:nvSpPr>
        <p:spPr>
          <a:xfrm>
            <a:off x="902900" y="742300"/>
            <a:ext cx="7338300" cy="6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/>
          <p:nvPr/>
        </p:nvSpPr>
        <p:spPr>
          <a:xfrm>
            <a:off x="554700" y="544650"/>
            <a:ext cx="8034600" cy="4054200"/>
          </a:xfrm>
          <a:prstGeom prst="rect">
            <a:avLst/>
          </a:prstGeom>
          <a:solidFill>
            <a:srgbClr val="EFEFEF"/>
          </a:solidFill>
          <a:ln cap="flat" cmpd="sng" w="1143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" name="Google Shape;72;p10"/>
          <p:cNvGrpSpPr/>
          <p:nvPr/>
        </p:nvGrpSpPr>
        <p:grpSpPr>
          <a:xfrm>
            <a:off x="4414050" y="3983883"/>
            <a:ext cx="315900" cy="98400"/>
            <a:chOff x="4414050" y="1436450"/>
            <a:chExt cx="315900" cy="98400"/>
          </a:xfrm>
        </p:grpSpPr>
        <p:cxnSp>
          <p:nvCxnSpPr>
            <p:cNvPr id="73" name="Google Shape;73;p10"/>
            <p:cNvCxnSpPr/>
            <p:nvPr/>
          </p:nvCxnSpPr>
          <p:spPr>
            <a:xfrm>
              <a:off x="4414050" y="1485650"/>
              <a:ext cx="315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74" name="Google Shape;74;p10"/>
            <p:cNvSpPr/>
            <p:nvPr/>
          </p:nvSpPr>
          <p:spPr>
            <a:xfrm>
              <a:off x="4522800" y="1436450"/>
              <a:ext cx="98400" cy="98400"/>
            </a:xfrm>
            <a:prstGeom prst="diamond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853650" y="3965517"/>
            <a:ext cx="7436700" cy="5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ntainer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554700" y="544650"/>
            <a:ext cx="8034600" cy="4054200"/>
          </a:xfrm>
          <a:prstGeom prst="rect">
            <a:avLst/>
          </a:prstGeom>
          <a:solidFill>
            <a:srgbClr val="EFEFEF"/>
          </a:solidFill>
          <a:ln cap="flat" cmpd="sng" w="1143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214313" rotWithShape="0" algn="bl" dir="5400000" dist="95250">
              <a:srgbClr val="000000">
                <a:alpha val="3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tely Blank">
  <p:cSld name="BLANK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2" name="Google Shape;82;p12"/>
          <p:cNvGrpSpPr/>
          <p:nvPr/>
        </p:nvGrpSpPr>
        <p:grpSpPr>
          <a:xfrm>
            <a:off x="4414050" y="4579950"/>
            <a:ext cx="315900" cy="98400"/>
            <a:chOff x="4414050" y="1436450"/>
            <a:chExt cx="315900" cy="98400"/>
          </a:xfrm>
        </p:grpSpPr>
        <p:cxnSp>
          <p:nvCxnSpPr>
            <p:cNvPr id="83" name="Google Shape;83;p12"/>
            <p:cNvCxnSpPr/>
            <p:nvPr/>
          </p:nvCxnSpPr>
          <p:spPr>
            <a:xfrm>
              <a:off x="4414050" y="1485650"/>
              <a:ext cx="315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84" name="Google Shape;84;p12"/>
            <p:cNvSpPr/>
            <p:nvPr/>
          </p:nvSpPr>
          <p:spPr>
            <a:xfrm>
              <a:off x="4522800" y="1436450"/>
              <a:ext cx="98400" cy="98400"/>
            </a:xfrm>
            <a:prstGeom prst="diamond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rame">
  <p:cSld name="BLANK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fmla="val 10576" name="adj1"/>
            </a:avLst>
          </a:prstGeom>
          <a:solidFill>
            <a:srgbClr val="1A0808">
              <a:alpha val="424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7750" y="224000"/>
            <a:ext cx="8848500" cy="4712100"/>
          </a:xfrm>
          <a:prstGeom prst="frame">
            <a:avLst>
              <a:gd fmla="val 7899" name="adj1"/>
            </a:avLst>
          </a:prstGeom>
          <a:noFill/>
          <a:ln>
            <a:noFill/>
          </a:ln>
        </p:spPr>
      </p:pic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554700" y="544650"/>
            <a:ext cx="8034600" cy="4054200"/>
          </a:xfrm>
          <a:prstGeom prst="rect">
            <a:avLst/>
          </a:prstGeom>
          <a:noFill/>
          <a:ln cap="flat" cmpd="sng" w="1143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600"/>
              </a:spcBef>
              <a:spcAft>
                <a:spcPts val="0"/>
              </a:spcAft>
              <a:buSzPts val="1200"/>
              <a:buChar char="⬗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◇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◇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◇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◇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◇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◇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◇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◇"/>
              <a:defRPr sz="1200"/>
            </a:lvl9pPr>
          </a:lstStyle>
          <a:p/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accen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5143488"/>
          </a:xfrm>
          <a:custGeom>
            <a:rect b="b" l="l" r="r" t="t"/>
            <a:pathLst>
              <a:path extrusionOk="0" h="160734" w="285750">
                <a:moveTo>
                  <a:pt x="1116" y="0"/>
                </a:moveTo>
                <a:lnTo>
                  <a:pt x="0" y="1116"/>
                </a:lnTo>
                <a:lnTo>
                  <a:pt x="0" y="1563"/>
                </a:lnTo>
                <a:lnTo>
                  <a:pt x="1563" y="0"/>
                </a:lnTo>
                <a:close/>
                <a:moveTo>
                  <a:pt x="7367" y="0"/>
                </a:moveTo>
                <a:lnTo>
                  <a:pt x="0" y="7367"/>
                </a:lnTo>
                <a:lnTo>
                  <a:pt x="0" y="7813"/>
                </a:lnTo>
                <a:lnTo>
                  <a:pt x="7813" y="0"/>
                </a:lnTo>
                <a:close/>
                <a:moveTo>
                  <a:pt x="13618" y="0"/>
                </a:moveTo>
                <a:lnTo>
                  <a:pt x="0" y="13618"/>
                </a:lnTo>
                <a:lnTo>
                  <a:pt x="0" y="14064"/>
                </a:lnTo>
                <a:lnTo>
                  <a:pt x="14064" y="0"/>
                </a:lnTo>
                <a:close/>
                <a:moveTo>
                  <a:pt x="19869" y="0"/>
                </a:moveTo>
                <a:lnTo>
                  <a:pt x="0" y="19869"/>
                </a:lnTo>
                <a:lnTo>
                  <a:pt x="0" y="20315"/>
                </a:lnTo>
                <a:lnTo>
                  <a:pt x="20315" y="0"/>
                </a:lnTo>
                <a:close/>
                <a:moveTo>
                  <a:pt x="26119" y="0"/>
                </a:moveTo>
                <a:lnTo>
                  <a:pt x="0" y="26119"/>
                </a:lnTo>
                <a:lnTo>
                  <a:pt x="0" y="26566"/>
                </a:lnTo>
                <a:lnTo>
                  <a:pt x="26566" y="0"/>
                </a:lnTo>
                <a:close/>
                <a:moveTo>
                  <a:pt x="32370" y="0"/>
                </a:moveTo>
                <a:lnTo>
                  <a:pt x="0" y="32370"/>
                </a:lnTo>
                <a:lnTo>
                  <a:pt x="0" y="32817"/>
                </a:lnTo>
                <a:lnTo>
                  <a:pt x="32817" y="0"/>
                </a:lnTo>
                <a:close/>
                <a:moveTo>
                  <a:pt x="38621" y="0"/>
                </a:moveTo>
                <a:lnTo>
                  <a:pt x="0" y="38621"/>
                </a:lnTo>
                <a:lnTo>
                  <a:pt x="0" y="39067"/>
                </a:lnTo>
                <a:lnTo>
                  <a:pt x="39067" y="0"/>
                </a:lnTo>
                <a:close/>
                <a:moveTo>
                  <a:pt x="44872" y="0"/>
                </a:moveTo>
                <a:lnTo>
                  <a:pt x="0" y="44872"/>
                </a:lnTo>
                <a:lnTo>
                  <a:pt x="0" y="45318"/>
                </a:lnTo>
                <a:lnTo>
                  <a:pt x="45318" y="0"/>
                </a:lnTo>
                <a:close/>
                <a:moveTo>
                  <a:pt x="51122" y="0"/>
                </a:moveTo>
                <a:lnTo>
                  <a:pt x="0" y="51122"/>
                </a:lnTo>
                <a:lnTo>
                  <a:pt x="0" y="51569"/>
                </a:lnTo>
                <a:lnTo>
                  <a:pt x="51569" y="0"/>
                </a:lnTo>
                <a:close/>
                <a:moveTo>
                  <a:pt x="57373" y="0"/>
                </a:moveTo>
                <a:lnTo>
                  <a:pt x="0" y="57373"/>
                </a:lnTo>
                <a:lnTo>
                  <a:pt x="0" y="57820"/>
                </a:lnTo>
                <a:lnTo>
                  <a:pt x="57820" y="0"/>
                </a:lnTo>
                <a:close/>
                <a:moveTo>
                  <a:pt x="63624" y="0"/>
                </a:moveTo>
                <a:lnTo>
                  <a:pt x="0" y="63624"/>
                </a:lnTo>
                <a:lnTo>
                  <a:pt x="0" y="64070"/>
                </a:lnTo>
                <a:lnTo>
                  <a:pt x="64071" y="0"/>
                </a:lnTo>
                <a:close/>
                <a:moveTo>
                  <a:pt x="69875" y="0"/>
                </a:moveTo>
                <a:lnTo>
                  <a:pt x="0" y="69875"/>
                </a:lnTo>
                <a:lnTo>
                  <a:pt x="0" y="70321"/>
                </a:lnTo>
                <a:lnTo>
                  <a:pt x="70321" y="0"/>
                </a:lnTo>
                <a:close/>
                <a:moveTo>
                  <a:pt x="76126" y="0"/>
                </a:moveTo>
                <a:lnTo>
                  <a:pt x="0" y="76125"/>
                </a:lnTo>
                <a:lnTo>
                  <a:pt x="0" y="76572"/>
                </a:lnTo>
                <a:lnTo>
                  <a:pt x="76572" y="0"/>
                </a:lnTo>
                <a:close/>
                <a:moveTo>
                  <a:pt x="82376" y="0"/>
                </a:moveTo>
                <a:lnTo>
                  <a:pt x="0" y="82376"/>
                </a:lnTo>
                <a:lnTo>
                  <a:pt x="0" y="82823"/>
                </a:lnTo>
                <a:lnTo>
                  <a:pt x="82823" y="0"/>
                </a:lnTo>
                <a:close/>
                <a:moveTo>
                  <a:pt x="88627" y="0"/>
                </a:moveTo>
                <a:lnTo>
                  <a:pt x="0" y="88627"/>
                </a:lnTo>
                <a:lnTo>
                  <a:pt x="0" y="89073"/>
                </a:lnTo>
                <a:lnTo>
                  <a:pt x="89074" y="0"/>
                </a:lnTo>
                <a:close/>
                <a:moveTo>
                  <a:pt x="94878" y="0"/>
                </a:moveTo>
                <a:lnTo>
                  <a:pt x="0" y="94878"/>
                </a:lnTo>
                <a:lnTo>
                  <a:pt x="0" y="95324"/>
                </a:lnTo>
                <a:lnTo>
                  <a:pt x="95324" y="0"/>
                </a:lnTo>
                <a:close/>
                <a:moveTo>
                  <a:pt x="101129" y="0"/>
                </a:moveTo>
                <a:lnTo>
                  <a:pt x="0" y="101128"/>
                </a:lnTo>
                <a:lnTo>
                  <a:pt x="0" y="101575"/>
                </a:lnTo>
                <a:lnTo>
                  <a:pt x="101575" y="0"/>
                </a:lnTo>
                <a:close/>
                <a:moveTo>
                  <a:pt x="107379" y="0"/>
                </a:moveTo>
                <a:lnTo>
                  <a:pt x="0" y="107379"/>
                </a:lnTo>
                <a:lnTo>
                  <a:pt x="0" y="107826"/>
                </a:lnTo>
                <a:lnTo>
                  <a:pt x="107826" y="0"/>
                </a:lnTo>
                <a:close/>
                <a:moveTo>
                  <a:pt x="113630" y="0"/>
                </a:moveTo>
                <a:lnTo>
                  <a:pt x="0" y="113630"/>
                </a:lnTo>
                <a:lnTo>
                  <a:pt x="0" y="114076"/>
                </a:lnTo>
                <a:lnTo>
                  <a:pt x="114077" y="0"/>
                </a:lnTo>
                <a:close/>
                <a:moveTo>
                  <a:pt x="119881" y="0"/>
                </a:moveTo>
                <a:lnTo>
                  <a:pt x="0" y="119881"/>
                </a:lnTo>
                <a:lnTo>
                  <a:pt x="0" y="120327"/>
                </a:lnTo>
                <a:lnTo>
                  <a:pt x="120328" y="0"/>
                </a:lnTo>
                <a:close/>
                <a:moveTo>
                  <a:pt x="126132" y="0"/>
                </a:moveTo>
                <a:lnTo>
                  <a:pt x="0" y="126132"/>
                </a:lnTo>
                <a:lnTo>
                  <a:pt x="0" y="126578"/>
                </a:lnTo>
                <a:lnTo>
                  <a:pt x="126578" y="0"/>
                </a:lnTo>
                <a:close/>
                <a:moveTo>
                  <a:pt x="132383" y="0"/>
                </a:moveTo>
                <a:lnTo>
                  <a:pt x="0" y="132382"/>
                </a:lnTo>
                <a:lnTo>
                  <a:pt x="0" y="132829"/>
                </a:lnTo>
                <a:lnTo>
                  <a:pt x="132829" y="0"/>
                </a:lnTo>
                <a:close/>
                <a:moveTo>
                  <a:pt x="138633" y="0"/>
                </a:moveTo>
                <a:lnTo>
                  <a:pt x="0" y="138633"/>
                </a:lnTo>
                <a:lnTo>
                  <a:pt x="0" y="139080"/>
                </a:lnTo>
                <a:lnTo>
                  <a:pt x="139080" y="0"/>
                </a:lnTo>
                <a:close/>
                <a:moveTo>
                  <a:pt x="144884" y="0"/>
                </a:moveTo>
                <a:lnTo>
                  <a:pt x="0" y="144884"/>
                </a:lnTo>
                <a:lnTo>
                  <a:pt x="0" y="145330"/>
                </a:lnTo>
                <a:lnTo>
                  <a:pt x="145331" y="0"/>
                </a:lnTo>
                <a:close/>
                <a:moveTo>
                  <a:pt x="151135" y="0"/>
                </a:moveTo>
                <a:lnTo>
                  <a:pt x="0" y="151135"/>
                </a:lnTo>
                <a:lnTo>
                  <a:pt x="0" y="151581"/>
                </a:lnTo>
                <a:lnTo>
                  <a:pt x="151581" y="0"/>
                </a:lnTo>
                <a:close/>
                <a:moveTo>
                  <a:pt x="157386" y="0"/>
                </a:moveTo>
                <a:lnTo>
                  <a:pt x="0" y="157385"/>
                </a:lnTo>
                <a:lnTo>
                  <a:pt x="0" y="157832"/>
                </a:lnTo>
                <a:lnTo>
                  <a:pt x="157832" y="0"/>
                </a:lnTo>
                <a:close/>
                <a:moveTo>
                  <a:pt x="163637" y="0"/>
                </a:moveTo>
                <a:lnTo>
                  <a:pt x="2902" y="160734"/>
                </a:lnTo>
                <a:lnTo>
                  <a:pt x="3349" y="160734"/>
                </a:lnTo>
                <a:lnTo>
                  <a:pt x="164083" y="0"/>
                </a:lnTo>
                <a:close/>
                <a:moveTo>
                  <a:pt x="169887" y="0"/>
                </a:moveTo>
                <a:lnTo>
                  <a:pt x="9153" y="160734"/>
                </a:lnTo>
                <a:lnTo>
                  <a:pt x="9599" y="160734"/>
                </a:lnTo>
                <a:lnTo>
                  <a:pt x="170334" y="0"/>
                </a:lnTo>
                <a:close/>
                <a:moveTo>
                  <a:pt x="176138" y="0"/>
                </a:moveTo>
                <a:lnTo>
                  <a:pt x="15404" y="160734"/>
                </a:lnTo>
                <a:lnTo>
                  <a:pt x="15850" y="160734"/>
                </a:lnTo>
                <a:lnTo>
                  <a:pt x="176585" y="0"/>
                </a:lnTo>
                <a:close/>
                <a:moveTo>
                  <a:pt x="182389" y="0"/>
                </a:moveTo>
                <a:lnTo>
                  <a:pt x="21654" y="160734"/>
                </a:lnTo>
                <a:lnTo>
                  <a:pt x="22101" y="160734"/>
                </a:lnTo>
                <a:lnTo>
                  <a:pt x="182835" y="0"/>
                </a:lnTo>
                <a:close/>
                <a:moveTo>
                  <a:pt x="188640" y="0"/>
                </a:moveTo>
                <a:lnTo>
                  <a:pt x="27905" y="160734"/>
                </a:lnTo>
                <a:lnTo>
                  <a:pt x="28352" y="160734"/>
                </a:lnTo>
                <a:lnTo>
                  <a:pt x="189086" y="0"/>
                </a:lnTo>
                <a:close/>
                <a:moveTo>
                  <a:pt x="194890" y="0"/>
                </a:moveTo>
                <a:lnTo>
                  <a:pt x="34156" y="160734"/>
                </a:lnTo>
                <a:lnTo>
                  <a:pt x="34603" y="160734"/>
                </a:lnTo>
                <a:lnTo>
                  <a:pt x="195337" y="0"/>
                </a:lnTo>
                <a:close/>
                <a:moveTo>
                  <a:pt x="201141" y="0"/>
                </a:moveTo>
                <a:lnTo>
                  <a:pt x="40407" y="160734"/>
                </a:lnTo>
                <a:lnTo>
                  <a:pt x="40853" y="160734"/>
                </a:lnTo>
                <a:lnTo>
                  <a:pt x="201588" y="0"/>
                </a:lnTo>
                <a:close/>
                <a:moveTo>
                  <a:pt x="207392" y="0"/>
                </a:moveTo>
                <a:lnTo>
                  <a:pt x="46658" y="160734"/>
                </a:lnTo>
                <a:lnTo>
                  <a:pt x="47104" y="160734"/>
                </a:lnTo>
                <a:lnTo>
                  <a:pt x="207838" y="0"/>
                </a:lnTo>
                <a:close/>
                <a:moveTo>
                  <a:pt x="213643" y="0"/>
                </a:moveTo>
                <a:lnTo>
                  <a:pt x="52908" y="160734"/>
                </a:lnTo>
                <a:lnTo>
                  <a:pt x="53355" y="160734"/>
                </a:lnTo>
                <a:lnTo>
                  <a:pt x="214089" y="0"/>
                </a:lnTo>
                <a:close/>
                <a:moveTo>
                  <a:pt x="219894" y="0"/>
                </a:moveTo>
                <a:lnTo>
                  <a:pt x="59159" y="160734"/>
                </a:lnTo>
                <a:lnTo>
                  <a:pt x="59606" y="160734"/>
                </a:lnTo>
                <a:lnTo>
                  <a:pt x="220340" y="0"/>
                </a:lnTo>
                <a:close/>
                <a:moveTo>
                  <a:pt x="226144" y="0"/>
                </a:moveTo>
                <a:lnTo>
                  <a:pt x="65410" y="160734"/>
                </a:lnTo>
                <a:lnTo>
                  <a:pt x="65856" y="160734"/>
                </a:lnTo>
                <a:lnTo>
                  <a:pt x="226591" y="0"/>
                </a:lnTo>
                <a:close/>
                <a:moveTo>
                  <a:pt x="232395" y="0"/>
                </a:moveTo>
                <a:lnTo>
                  <a:pt x="71661" y="160734"/>
                </a:lnTo>
                <a:lnTo>
                  <a:pt x="72107" y="160734"/>
                </a:lnTo>
                <a:lnTo>
                  <a:pt x="232842" y="0"/>
                </a:lnTo>
                <a:close/>
                <a:moveTo>
                  <a:pt x="238646" y="0"/>
                </a:moveTo>
                <a:lnTo>
                  <a:pt x="77912" y="160734"/>
                </a:lnTo>
                <a:lnTo>
                  <a:pt x="78358" y="160734"/>
                </a:lnTo>
                <a:lnTo>
                  <a:pt x="239092" y="0"/>
                </a:lnTo>
                <a:close/>
                <a:moveTo>
                  <a:pt x="244897" y="0"/>
                </a:moveTo>
                <a:lnTo>
                  <a:pt x="84162" y="160734"/>
                </a:lnTo>
                <a:lnTo>
                  <a:pt x="84609" y="160734"/>
                </a:lnTo>
                <a:lnTo>
                  <a:pt x="245343" y="0"/>
                </a:lnTo>
                <a:close/>
                <a:moveTo>
                  <a:pt x="251147" y="0"/>
                </a:moveTo>
                <a:lnTo>
                  <a:pt x="90413" y="160734"/>
                </a:lnTo>
                <a:lnTo>
                  <a:pt x="90860" y="160734"/>
                </a:lnTo>
                <a:lnTo>
                  <a:pt x="251594" y="0"/>
                </a:lnTo>
                <a:close/>
                <a:moveTo>
                  <a:pt x="257398" y="0"/>
                </a:moveTo>
                <a:lnTo>
                  <a:pt x="96664" y="160734"/>
                </a:lnTo>
                <a:lnTo>
                  <a:pt x="97110" y="160734"/>
                </a:lnTo>
                <a:lnTo>
                  <a:pt x="257845" y="0"/>
                </a:lnTo>
                <a:close/>
                <a:moveTo>
                  <a:pt x="263649" y="0"/>
                </a:moveTo>
                <a:lnTo>
                  <a:pt x="102915" y="160734"/>
                </a:lnTo>
                <a:lnTo>
                  <a:pt x="103361" y="160734"/>
                </a:lnTo>
                <a:lnTo>
                  <a:pt x="264096" y="0"/>
                </a:lnTo>
                <a:close/>
                <a:moveTo>
                  <a:pt x="269900" y="0"/>
                </a:moveTo>
                <a:lnTo>
                  <a:pt x="109165" y="160734"/>
                </a:lnTo>
                <a:lnTo>
                  <a:pt x="109612" y="160734"/>
                </a:lnTo>
                <a:lnTo>
                  <a:pt x="270346" y="0"/>
                </a:lnTo>
                <a:close/>
                <a:moveTo>
                  <a:pt x="276151" y="0"/>
                </a:moveTo>
                <a:lnTo>
                  <a:pt x="115416" y="160734"/>
                </a:lnTo>
                <a:lnTo>
                  <a:pt x="115863" y="160734"/>
                </a:lnTo>
                <a:lnTo>
                  <a:pt x="276597" y="0"/>
                </a:lnTo>
                <a:close/>
                <a:moveTo>
                  <a:pt x="282401" y="0"/>
                </a:moveTo>
                <a:lnTo>
                  <a:pt x="121667" y="160734"/>
                </a:lnTo>
                <a:lnTo>
                  <a:pt x="122113" y="160734"/>
                </a:lnTo>
                <a:lnTo>
                  <a:pt x="282848" y="0"/>
                </a:lnTo>
                <a:close/>
                <a:moveTo>
                  <a:pt x="285750" y="2902"/>
                </a:moveTo>
                <a:lnTo>
                  <a:pt x="127918" y="160734"/>
                </a:lnTo>
                <a:lnTo>
                  <a:pt x="128364" y="160734"/>
                </a:lnTo>
                <a:lnTo>
                  <a:pt x="285750" y="3349"/>
                </a:lnTo>
                <a:lnTo>
                  <a:pt x="285750" y="2902"/>
                </a:lnTo>
                <a:close/>
                <a:moveTo>
                  <a:pt x="285750" y="9153"/>
                </a:moveTo>
                <a:lnTo>
                  <a:pt x="134169" y="160734"/>
                </a:lnTo>
                <a:lnTo>
                  <a:pt x="134615" y="160734"/>
                </a:lnTo>
                <a:lnTo>
                  <a:pt x="285750" y="9599"/>
                </a:lnTo>
                <a:lnTo>
                  <a:pt x="285750" y="9153"/>
                </a:lnTo>
                <a:close/>
                <a:moveTo>
                  <a:pt x="285750" y="15404"/>
                </a:moveTo>
                <a:lnTo>
                  <a:pt x="140419" y="160734"/>
                </a:lnTo>
                <a:lnTo>
                  <a:pt x="140866" y="160734"/>
                </a:lnTo>
                <a:lnTo>
                  <a:pt x="285750" y="15850"/>
                </a:lnTo>
                <a:lnTo>
                  <a:pt x="285750" y="15404"/>
                </a:lnTo>
                <a:close/>
                <a:moveTo>
                  <a:pt x="285750" y="21654"/>
                </a:moveTo>
                <a:lnTo>
                  <a:pt x="146670" y="160734"/>
                </a:lnTo>
                <a:lnTo>
                  <a:pt x="147117" y="160734"/>
                </a:lnTo>
                <a:lnTo>
                  <a:pt x="285750" y="22101"/>
                </a:lnTo>
                <a:lnTo>
                  <a:pt x="285750" y="21654"/>
                </a:lnTo>
                <a:close/>
                <a:moveTo>
                  <a:pt x="285750" y="27905"/>
                </a:moveTo>
                <a:lnTo>
                  <a:pt x="152921" y="160734"/>
                </a:lnTo>
                <a:lnTo>
                  <a:pt x="153367" y="160734"/>
                </a:lnTo>
                <a:lnTo>
                  <a:pt x="285750" y="28352"/>
                </a:lnTo>
                <a:lnTo>
                  <a:pt x="285750" y="27905"/>
                </a:lnTo>
                <a:close/>
                <a:moveTo>
                  <a:pt x="285750" y="34156"/>
                </a:moveTo>
                <a:lnTo>
                  <a:pt x="159172" y="160734"/>
                </a:lnTo>
                <a:lnTo>
                  <a:pt x="159618" y="160734"/>
                </a:lnTo>
                <a:lnTo>
                  <a:pt x="285750" y="34602"/>
                </a:lnTo>
                <a:lnTo>
                  <a:pt x="285750" y="34156"/>
                </a:lnTo>
                <a:close/>
                <a:moveTo>
                  <a:pt x="285750" y="40407"/>
                </a:moveTo>
                <a:lnTo>
                  <a:pt x="165422" y="160734"/>
                </a:lnTo>
                <a:lnTo>
                  <a:pt x="165869" y="160734"/>
                </a:lnTo>
                <a:lnTo>
                  <a:pt x="285750" y="40853"/>
                </a:lnTo>
                <a:lnTo>
                  <a:pt x="285750" y="40407"/>
                </a:lnTo>
                <a:close/>
                <a:moveTo>
                  <a:pt x="285750" y="46658"/>
                </a:moveTo>
                <a:lnTo>
                  <a:pt x="171673" y="160734"/>
                </a:lnTo>
                <a:lnTo>
                  <a:pt x="172120" y="160734"/>
                </a:lnTo>
                <a:lnTo>
                  <a:pt x="285750" y="47104"/>
                </a:lnTo>
                <a:lnTo>
                  <a:pt x="285750" y="46658"/>
                </a:lnTo>
                <a:close/>
                <a:moveTo>
                  <a:pt x="285750" y="52908"/>
                </a:moveTo>
                <a:lnTo>
                  <a:pt x="177924" y="160734"/>
                </a:lnTo>
                <a:lnTo>
                  <a:pt x="178371" y="160734"/>
                </a:lnTo>
                <a:lnTo>
                  <a:pt x="285750" y="53355"/>
                </a:lnTo>
                <a:lnTo>
                  <a:pt x="285750" y="52908"/>
                </a:lnTo>
                <a:close/>
                <a:moveTo>
                  <a:pt x="285750" y="59159"/>
                </a:moveTo>
                <a:lnTo>
                  <a:pt x="184175" y="160734"/>
                </a:lnTo>
                <a:lnTo>
                  <a:pt x="184621" y="160734"/>
                </a:lnTo>
                <a:lnTo>
                  <a:pt x="285750" y="59606"/>
                </a:lnTo>
                <a:lnTo>
                  <a:pt x="285750" y="59159"/>
                </a:lnTo>
                <a:close/>
                <a:moveTo>
                  <a:pt x="285750" y="65410"/>
                </a:moveTo>
                <a:lnTo>
                  <a:pt x="190426" y="160734"/>
                </a:lnTo>
                <a:lnTo>
                  <a:pt x="190872" y="160734"/>
                </a:lnTo>
                <a:lnTo>
                  <a:pt x="285750" y="65856"/>
                </a:lnTo>
                <a:lnTo>
                  <a:pt x="285750" y="65410"/>
                </a:lnTo>
                <a:close/>
                <a:moveTo>
                  <a:pt x="285750" y="71661"/>
                </a:moveTo>
                <a:lnTo>
                  <a:pt x="196676" y="160734"/>
                </a:lnTo>
                <a:lnTo>
                  <a:pt x="197123" y="160734"/>
                </a:lnTo>
                <a:lnTo>
                  <a:pt x="285750" y="72107"/>
                </a:lnTo>
                <a:lnTo>
                  <a:pt x="285750" y="71661"/>
                </a:lnTo>
                <a:close/>
                <a:moveTo>
                  <a:pt x="285750" y="77911"/>
                </a:moveTo>
                <a:lnTo>
                  <a:pt x="202927" y="160734"/>
                </a:lnTo>
                <a:lnTo>
                  <a:pt x="203374" y="160734"/>
                </a:lnTo>
                <a:lnTo>
                  <a:pt x="285750" y="78358"/>
                </a:lnTo>
                <a:lnTo>
                  <a:pt x="285750" y="77911"/>
                </a:lnTo>
                <a:close/>
                <a:moveTo>
                  <a:pt x="285750" y="84162"/>
                </a:moveTo>
                <a:lnTo>
                  <a:pt x="209178" y="160734"/>
                </a:lnTo>
                <a:lnTo>
                  <a:pt x="209624" y="160734"/>
                </a:lnTo>
                <a:lnTo>
                  <a:pt x="285750" y="84609"/>
                </a:lnTo>
                <a:lnTo>
                  <a:pt x="285750" y="84162"/>
                </a:lnTo>
                <a:close/>
                <a:moveTo>
                  <a:pt x="285750" y="90413"/>
                </a:moveTo>
                <a:lnTo>
                  <a:pt x="215429" y="160734"/>
                </a:lnTo>
                <a:lnTo>
                  <a:pt x="215875" y="160734"/>
                </a:lnTo>
                <a:lnTo>
                  <a:pt x="285750" y="90859"/>
                </a:lnTo>
                <a:lnTo>
                  <a:pt x="285750" y="90413"/>
                </a:lnTo>
                <a:close/>
                <a:moveTo>
                  <a:pt x="285750" y="96664"/>
                </a:moveTo>
                <a:lnTo>
                  <a:pt x="221680" y="160734"/>
                </a:lnTo>
                <a:lnTo>
                  <a:pt x="222126" y="160734"/>
                </a:lnTo>
                <a:lnTo>
                  <a:pt x="285750" y="97110"/>
                </a:lnTo>
                <a:lnTo>
                  <a:pt x="285750" y="96664"/>
                </a:lnTo>
                <a:close/>
                <a:moveTo>
                  <a:pt x="285750" y="102914"/>
                </a:moveTo>
                <a:lnTo>
                  <a:pt x="227930" y="160734"/>
                </a:lnTo>
                <a:lnTo>
                  <a:pt x="228377" y="160734"/>
                </a:lnTo>
                <a:lnTo>
                  <a:pt x="285750" y="103361"/>
                </a:lnTo>
                <a:lnTo>
                  <a:pt x="285750" y="102914"/>
                </a:lnTo>
                <a:close/>
                <a:moveTo>
                  <a:pt x="285750" y="109165"/>
                </a:moveTo>
                <a:lnTo>
                  <a:pt x="234181" y="160734"/>
                </a:lnTo>
                <a:lnTo>
                  <a:pt x="234628" y="160734"/>
                </a:lnTo>
                <a:lnTo>
                  <a:pt x="285750" y="109612"/>
                </a:lnTo>
                <a:lnTo>
                  <a:pt x="285750" y="109165"/>
                </a:lnTo>
                <a:close/>
                <a:moveTo>
                  <a:pt x="285750" y="115416"/>
                </a:moveTo>
                <a:lnTo>
                  <a:pt x="240432" y="160734"/>
                </a:lnTo>
                <a:lnTo>
                  <a:pt x="240878" y="160734"/>
                </a:lnTo>
                <a:lnTo>
                  <a:pt x="285750" y="115862"/>
                </a:lnTo>
                <a:lnTo>
                  <a:pt x="285750" y="115416"/>
                </a:lnTo>
                <a:close/>
                <a:moveTo>
                  <a:pt x="285750" y="121667"/>
                </a:moveTo>
                <a:lnTo>
                  <a:pt x="246683" y="160734"/>
                </a:lnTo>
                <a:lnTo>
                  <a:pt x="247129" y="160734"/>
                </a:lnTo>
                <a:lnTo>
                  <a:pt x="285750" y="122113"/>
                </a:lnTo>
                <a:lnTo>
                  <a:pt x="285750" y="121667"/>
                </a:lnTo>
                <a:close/>
                <a:moveTo>
                  <a:pt x="285750" y="127917"/>
                </a:moveTo>
                <a:lnTo>
                  <a:pt x="252933" y="160734"/>
                </a:lnTo>
                <a:lnTo>
                  <a:pt x="253380" y="160734"/>
                </a:lnTo>
                <a:lnTo>
                  <a:pt x="285750" y="128364"/>
                </a:lnTo>
                <a:lnTo>
                  <a:pt x="285750" y="127917"/>
                </a:lnTo>
                <a:close/>
                <a:moveTo>
                  <a:pt x="285750" y="134168"/>
                </a:moveTo>
                <a:lnTo>
                  <a:pt x="259184" y="160734"/>
                </a:lnTo>
                <a:lnTo>
                  <a:pt x="259631" y="160734"/>
                </a:lnTo>
                <a:lnTo>
                  <a:pt x="285750" y="134615"/>
                </a:lnTo>
                <a:lnTo>
                  <a:pt x="285750" y="134168"/>
                </a:lnTo>
                <a:close/>
                <a:moveTo>
                  <a:pt x="285750" y="140419"/>
                </a:moveTo>
                <a:lnTo>
                  <a:pt x="265435" y="160734"/>
                </a:lnTo>
                <a:lnTo>
                  <a:pt x="265881" y="160734"/>
                </a:lnTo>
                <a:lnTo>
                  <a:pt x="285750" y="140865"/>
                </a:lnTo>
                <a:lnTo>
                  <a:pt x="285750" y="140419"/>
                </a:lnTo>
                <a:close/>
                <a:moveTo>
                  <a:pt x="285750" y="146670"/>
                </a:moveTo>
                <a:lnTo>
                  <a:pt x="271686" y="160734"/>
                </a:lnTo>
                <a:lnTo>
                  <a:pt x="272132" y="160734"/>
                </a:lnTo>
                <a:lnTo>
                  <a:pt x="285750" y="147116"/>
                </a:lnTo>
                <a:lnTo>
                  <a:pt x="285750" y="146670"/>
                </a:lnTo>
                <a:close/>
                <a:moveTo>
                  <a:pt x="285750" y="152921"/>
                </a:moveTo>
                <a:lnTo>
                  <a:pt x="277937" y="160734"/>
                </a:lnTo>
                <a:lnTo>
                  <a:pt x="278383" y="160734"/>
                </a:lnTo>
                <a:lnTo>
                  <a:pt x="285750" y="153367"/>
                </a:lnTo>
                <a:lnTo>
                  <a:pt x="285750" y="152921"/>
                </a:lnTo>
                <a:close/>
                <a:moveTo>
                  <a:pt x="285750" y="159171"/>
                </a:moveTo>
                <a:lnTo>
                  <a:pt x="284187" y="160734"/>
                </a:lnTo>
                <a:lnTo>
                  <a:pt x="284634" y="160734"/>
                </a:lnTo>
                <a:lnTo>
                  <a:pt x="285750" y="159618"/>
                </a:lnTo>
                <a:lnTo>
                  <a:pt x="285750" y="159171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902900" y="742300"/>
            <a:ext cx="7338300" cy="60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idaloka"/>
              <a:buNone/>
              <a:defRPr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idaloka"/>
              <a:buNone/>
              <a:defRPr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idaloka"/>
              <a:buNone/>
              <a:defRPr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idaloka"/>
              <a:buNone/>
              <a:defRPr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idaloka"/>
              <a:buNone/>
              <a:defRPr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idaloka"/>
              <a:buNone/>
              <a:defRPr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idaloka"/>
              <a:buNone/>
              <a:defRPr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idaloka"/>
              <a:buNone/>
              <a:defRPr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Vidaloka"/>
              <a:buNone/>
              <a:defRPr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902900" y="1598734"/>
            <a:ext cx="7338300" cy="26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Tinos"/>
              <a:buChar char="⬗"/>
              <a:defRPr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nos"/>
              <a:buChar char="◇"/>
              <a:defRPr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nos"/>
              <a:buChar char="◇"/>
              <a:defRPr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nos"/>
              <a:buChar char="◇"/>
              <a:defRPr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nos"/>
              <a:buChar char="◇"/>
              <a:defRPr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nos"/>
              <a:buChar char="◇"/>
              <a:defRPr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nos"/>
              <a:buChar char="◇"/>
              <a:defRPr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nos"/>
              <a:buChar char="◇"/>
              <a:defRPr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nos"/>
              <a:buChar char="◇"/>
              <a:defRPr sz="2200">
                <a:solidFill>
                  <a:schemeClr val="dk1"/>
                </a:solidFill>
                <a:latin typeface="Tinos"/>
                <a:ea typeface="Tinos"/>
                <a:cs typeface="Tinos"/>
                <a:sym typeface="Tino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50" y="4645875"/>
            <a:ext cx="91440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ctrTitle"/>
          </p:nvPr>
        </p:nvSpPr>
        <p:spPr>
          <a:xfrm>
            <a:off x="3012875" y="993950"/>
            <a:ext cx="3139200" cy="315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Grandma’s  Cookbook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06" name="Google Shape;106;p17"/>
          <p:cNvSpPr txBox="1"/>
          <p:nvPr>
            <p:ph idx="4294967295" type="subTitle"/>
          </p:nvPr>
        </p:nvSpPr>
        <p:spPr>
          <a:xfrm>
            <a:off x="3012875" y="3100000"/>
            <a:ext cx="3139200" cy="10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Brought to you by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the Grandma’s Recipe Co.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Project Idea</a:t>
            </a:r>
            <a:endParaRPr sz="5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498625" y="1366050"/>
            <a:ext cx="8146800" cy="32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Wanting to digitalise cook books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◇"/>
            </a:pPr>
            <a:r>
              <a:rPr lang="en" sz="1600">
                <a:solidFill>
                  <a:schemeClr val="dk1"/>
                </a:solidFill>
              </a:rPr>
              <a:t>Paper copies tend to lose spiral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◇"/>
            </a:pPr>
            <a:r>
              <a:rPr lang="en" sz="1600">
                <a:solidFill>
                  <a:schemeClr val="dk1"/>
                </a:solidFill>
              </a:rPr>
              <a:t>N</a:t>
            </a:r>
            <a:r>
              <a:rPr lang="en" sz="1600">
                <a:solidFill>
                  <a:schemeClr val="dk1"/>
                </a:solidFill>
              </a:rPr>
              <a:t>ot able to transport everywhere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Wanting to carry of traditions without worry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◇"/>
            </a:pPr>
            <a:r>
              <a:rPr lang="en" sz="1600">
                <a:solidFill>
                  <a:schemeClr val="dk1"/>
                </a:solidFill>
              </a:rPr>
              <a:t>Digital is easier to transfer </a:t>
            </a:r>
            <a:r>
              <a:rPr lang="en" sz="1600">
                <a:solidFill>
                  <a:schemeClr val="dk1"/>
                </a:solidFill>
              </a:rPr>
              <a:t>without damaging original copy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Useful for modern generations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◇"/>
            </a:pPr>
            <a:r>
              <a:rPr lang="en" sz="1600">
                <a:solidFill>
                  <a:schemeClr val="dk1"/>
                </a:solidFill>
              </a:rPr>
              <a:t>Younger generations depend on technology versus paper copies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Useful to the actual team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◇"/>
            </a:pPr>
            <a:r>
              <a:rPr lang="en" sz="1600">
                <a:solidFill>
                  <a:schemeClr val="dk1"/>
                </a:solidFill>
              </a:rPr>
              <a:t>Members wanted a way to store recipes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615675" y="487425"/>
            <a:ext cx="79140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Vidaloka"/>
                <a:ea typeface="Vidaloka"/>
                <a:cs typeface="Vidaloka"/>
                <a:sym typeface="Vidaloka"/>
              </a:rPr>
              <a:t>How we came up with it</a:t>
            </a:r>
            <a:endParaRPr sz="1800">
              <a:solidFill>
                <a:schemeClr val="dk2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System Components</a:t>
            </a:r>
            <a:endParaRPr sz="5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idx="4294967295" type="body"/>
          </p:nvPr>
        </p:nvSpPr>
        <p:spPr>
          <a:xfrm>
            <a:off x="618025" y="487425"/>
            <a:ext cx="4256100" cy="41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Char char="⬗"/>
            </a:pPr>
            <a:r>
              <a:rPr b="1" lang="en" sz="1800">
                <a:solidFill>
                  <a:schemeClr val="lt2"/>
                </a:solidFill>
              </a:rPr>
              <a:t>User Interface Module</a:t>
            </a:r>
            <a:endParaRPr b="1" sz="1800">
              <a:solidFill>
                <a:schemeClr val="lt2"/>
              </a:solidFill>
            </a:endParaRPr>
          </a:p>
          <a:p>
            <a:pPr indent="-330200" lvl="1" marL="62865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◇"/>
            </a:pPr>
            <a:r>
              <a:rPr lang="en" sz="1600">
                <a:solidFill>
                  <a:schemeClr val="lt2"/>
                </a:solidFill>
              </a:rPr>
              <a:t>Built using Electron and Quasar.</a:t>
            </a:r>
            <a:endParaRPr sz="1600">
              <a:solidFill>
                <a:schemeClr val="lt2"/>
              </a:solidFill>
            </a:endParaRPr>
          </a:p>
          <a:p>
            <a:pPr indent="-330200" lvl="1" marL="62865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◇"/>
            </a:pPr>
            <a:r>
              <a:rPr lang="en" sz="1600">
                <a:solidFill>
                  <a:schemeClr val="lt2"/>
                </a:solidFill>
              </a:rPr>
              <a:t>Handles user interaction, displays content, and provides a cross platform desktop experience</a:t>
            </a:r>
            <a:endParaRPr sz="1600"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Char char="⬗"/>
            </a:pPr>
            <a:r>
              <a:rPr b="1" lang="en" sz="1800">
                <a:solidFill>
                  <a:schemeClr val="lt2"/>
                </a:solidFill>
              </a:rPr>
              <a:t>Application Logic Module</a:t>
            </a:r>
            <a:endParaRPr b="1" sz="1800">
              <a:solidFill>
                <a:schemeClr val="lt2"/>
              </a:solidFill>
            </a:endParaRPr>
          </a:p>
          <a:p>
            <a:pPr indent="-330200" lvl="1" marL="62865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◇"/>
            </a:pPr>
            <a:r>
              <a:rPr lang="en" sz="1600">
                <a:solidFill>
                  <a:schemeClr val="lt2"/>
                </a:solidFill>
              </a:rPr>
              <a:t>Built using JavaScript back-end.</a:t>
            </a:r>
            <a:endParaRPr sz="1600">
              <a:solidFill>
                <a:schemeClr val="lt2"/>
              </a:solidFill>
            </a:endParaRPr>
          </a:p>
          <a:p>
            <a:pPr indent="-330200" lvl="1" marL="62865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◇"/>
            </a:pPr>
            <a:r>
              <a:rPr lang="en" sz="1600">
                <a:solidFill>
                  <a:schemeClr val="lt2"/>
                </a:solidFill>
              </a:rPr>
              <a:t>Processes user requests, applied business rules, and manages system functionality.</a:t>
            </a:r>
            <a:endParaRPr sz="1600"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Char char="⬗"/>
            </a:pPr>
            <a:r>
              <a:rPr b="1" lang="en" sz="1800">
                <a:solidFill>
                  <a:schemeClr val="lt2"/>
                </a:solidFill>
              </a:rPr>
              <a:t>Data Management Module</a:t>
            </a:r>
            <a:endParaRPr b="1" sz="1800">
              <a:solidFill>
                <a:schemeClr val="lt2"/>
              </a:solidFill>
            </a:endParaRPr>
          </a:p>
          <a:p>
            <a:pPr indent="-330200" lvl="1" marL="62865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◇"/>
            </a:pPr>
            <a:r>
              <a:rPr lang="en" sz="1600">
                <a:solidFill>
                  <a:schemeClr val="lt2"/>
                </a:solidFill>
              </a:rPr>
              <a:t>Responsible for storing, retrieving, and updating data within the database.</a:t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128" name="Google Shape;128;p21"/>
          <p:cNvSpPr txBox="1"/>
          <p:nvPr>
            <p:ph idx="4294967295" type="body"/>
          </p:nvPr>
        </p:nvSpPr>
        <p:spPr>
          <a:xfrm>
            <a:off x="4874125" y="538725"/>
            <a:ext cx="3655500" cy="41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⬗"/>
            </a:pPr>
            <a:r>
              <a:rPr b="1" lang="en" sz="1800">
                <a:solidFill>
                  <a:schemeClr val="lt2"/>
                </a:solidFill>
              </a:rPr>
              <a:t>Communication Module</a:t>
            </a:r>
            <a:endParaRPr b="1" sz="1800">
              <a:solidFill>
                <a:schemeClr val="lt2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Manages API ( Application Programming Interface) communication between the frontend and backend to ensure secure data exchange.</a:t>
            </a:r>
            <a:endParaRPr sz="1600">
              <a:solidFill>
                <a:schemeClr val="lt2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Char char="⬗"/>
            </a:pPr>
            <a:r>
              <a:rPr b="1" lang="en" sz="1800">
                <a:solidFill>
                  <a:schemeClr val="lt2"/>
                </a:solidFill>
              </a:rPr>
              <a:t>System Flow</a:t>
            </a:r>
            <a:endParaRPr b="1" sz="1800">
              <a:solidFill>
                <a:schemeClr val="lt2"/>
              </a:solidFill>
            </a:endParaRPr>
          </a:p>
          <a:p>
            <a:pPr indent="-330200" lvl="1" marL="62865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◇"/>
            </a:pPr>
            <a:r>
              <a:rPr lang="en" sz="1600">
                <a:solidFill>
                  <a:schemeClr val="lt2"/>
                </a:solidFill>
              </a:rPr>
              <a:t>User</a:t>
            </a:r>
            <a:endParaRPr sz="1600">
              <a:solidFill>
                <a:schemeClr val="lt2"/>
              </a:solidFill>
            </a:endParaRPr>
          </a:p>
          <a:p>
            <a:pPr indent="-330200" lvl="1" marL="62865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◇"/>
            </a:pPr>
            <a:r>
              <a:rPr lang="en" sz="1600">
                <a:solidFill>
                  <a:schemeClr val="lt2"/>
                </a:solidFill>
              </a:rPr>
              <a:t>UI Module Application Logic</a:t>
            </a:r>
            <a:endParaRPr sz="1600">
              <a:solidFill>
                <a:schemeClr val="lt2"/>
              </a:solidFill>
            </a:endParaRPr>
          </a:p>
          <a:p>
            <a:pPr indent="-330200" lvl="1" marL="62865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◇"/>
            </a:pPr>
            <a:r>
              <a:rPr lang="en" sz="1600">
                <a:solidFill>
                  <a:schemeClr val="lt2"/>
                </a:solidFill>
              </a:rPr>
              <a:t>Data Management</a:t>
            </a:r>
            <a:endParaRPr sz="1600">
              <a:solidFill>
                <a:schemeClr val="lt2"/>
              </a:solidFill>
            </a:endParaRPr>
          </a:p>
          <a:p>
            <a:pPr indent="-330200" lvl="1" marL="62865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◇"/>
            </a:pPr>
            <a:r>
              <a:rPr lang="en" sz="1600">
                <a:solidFill>
                  <a:schemeClr val="lt2"/>
                </a:solidFill>
              </a:rPr>
              <a:t>Response to user</a:t>
            </a:r>
            <a:endParaRPr sz="1600">
              <a:solidFill>
                <a:schemeClr val="lt2"/>
              </a:solidFill>
            </a:endParaRPr>
          </a:p>
        </p:txBody>
      </p:sp>
      <p:cxnSp>
        <p:nvCxnSpPr>
          <p:cNvPr id="129" name="Google Shape;129;p21"/>
          <p:cNvCxnSpPr/>
          <p:nvPr/>
        </p:nvCxnSpPr>
        <p:spPr>
          <a:xfrm>
            <a:off x="4874125" y="789600"/>
            <a:ext cx="0" cy="35643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Cutting Edge Technology</a:t>
            </a:r>
            <a:endParaRPr sz="5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902900" y="489476"/>
            <a:ext cx="7338300" cy="87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generated ingredient list</a:t>
            </a:r>
            <a:endParaRPr/>
          </a:p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495200" y="1303400"/>
            <a:ext cx="8153700" cy="31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⬗"/>
            </a:pPr>
            <a:r>
              <a:rPr lang="en" sz="1600"/>
              <a:t>Problem</a:t>
            </a:r>
            <a:r>
              <a:rPr lang="en" sz="1600"/>
              <a:t>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◇"/>
            </a:pPr>
            <a:r>
              <a:rPr lang="en" sz="1600"/>
              <a:t>Users risk leaving ingredients out when manually listing them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◇"/>
            </a:pPr>
            <a:r>
              <a:rPr lang="en" sz="1600"/>
              <a:t>Listing ingredients can be tedious and time consuming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⬗"/>
            </a:pPr>
            <a:r>
              <a:rPr lang="en" sz="1600"/>
              <a:t>Solution: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◇"/>
            </a:pPr>
            <a:r>
              <a:rPr lang="en" sz="1600"/>
              <a:t>A feature allowing the app to scan recipe instructions and generate required ingredients using AI.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◇"/>
            </a:pPr>
            <a:r>
              <a:rPr lang="en" sz="1600"/>
              <a:t>The generated result will not include measurements for each ingredient and will require manual input due to uncertain reliability of AI and the recipe instructions prompt.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Project Proposal</a:t>
            </a:r>
            <a:endParaRPr sz="5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idx="4294967295" type="title"/>
          </p:nvPr>
        </p:nvSpPr>
        <p:spPr>
          <a:xfrm>
            <a:off x="321300" y="603972"/>
            <a:ext cx="8501400" cy="4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Executive Summary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51" name="Google Shape;151;p25"/>
          <p:cNvSpPr txBox="1"/>
          <p:nvPr>
            <p:ph idx="4294967295" type="body"/>
          </p:nvPr>
        </p:nvSpPr>
        <p:spPr>
          <a:xfrm>
            <a:off x="498625" y="817725"/>
            <a:ext cx="8146500" cy="38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⬗"/>
            </a:pPr>
            <a:r>
              <a:rPr lang="en" sz="1600">
                <a:solidFill>
                  <a:schemeClr val="lt2"/>
                </a:solidFill>
              </a:rPr>
              <a:t>The </a:t>
            </a:r>
            <a:r>
              <a:rPr i="1" lang="en" sz="1600">
                <a:solidFill>
                  <a:schemeClr val="lt2"/>
                </a:solidFill>
              </a:rPr>
              <a:t>Grandma’s Cookbook</a:t>
            </a:r>
            <a:r>
              <a:rPr lang="en" sz="1600">
                <a:solidFill>
                  <a:schemeClr val="lt2"/>
                </a:solidFill>
              </a:rPr>
              <a:t> is a cookbook that is </a:t>
            </a:r>
            <a:r>
              <a:rPr lang="en" sz="1600">
                <a:solidFill>
                  <a:schemeClr val="lt2"/>
                </a:solidFill>
              </a:rPr>
              <a:t>digitised</a:t>
            </a:r>
            <a:r>
              <a:rPr lang="en" sz="1600">
                <a:solidFill>
                  <a:schemeClr val="lt2"/>
                </a:solidFill>
              </a:rPr>
              <a:t> and able to sync up to multiple devices if saved. </a:t>
            </a:r>
            <a:endParaRPr sz="1600">
              <a:solidFill>
                <a:schemeClr val="lt2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◇"/>
            </a:pPr>
            <a:r>
              <a:rPr lang="en" sz="1600">
                <a:solidFill>
                  <a:schemeClr val="lt2"/>
                </a:solidFill>
              </a:rPr>
              <a:t>Most family cookbooks tend to be lost due to physical copies getting destroyed or bad handwriting. 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⬗"/>
            </a:pPr>
            <a:r>
              <a:rPr lang="en" sz="1600">
                <a:solidFill>
                  <a:schemeClr val="lt2"/>
                </a:solidFill>
              </a:rPr>
              <a:t>The point of this project is to keep family or new recipes the user decides to try or keep, saved digitally, so that traditions do not get lost. 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⬗"/>
            </a:pPr>
            <a:r>
              <a:rPr lang="en" sz="1600">
                <a:solidFill>
                  <a:schemeClr val="lt2"/>
                </a:solidFill>
              </a:rPr>
              <a:t>The final project is to create a family </a:t>
            </a:r>
            <a:r>
              <a:rPr lang="en" sz="1600">
                <a:solidFill>
                  <a:schemeClr val="lt2"/>
                </a:solidFill>
              </a:rPr>
              <a:t>cookbook</a:t>
            </a:r>
            <a:r>
              <a:rPr lang="en" sz="1600">
                <a:solidFill>
                  <a:schemeClr val="lt2"/>
                </a:solidFill>
              </a:rPr>
              <a:t> that is able to save passed down recipes and new recipes for the client.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⬗"/>
            </a:pPr>
            <a:r>
              <a:rPr lang="en" sz="1600">
                <a:solidFill>
                  <a:schemeClr val="lt2"/>
                </a:solidFill>
              </a:rPr>
              <a:t> The features in the cookbook include: </a:t>
            </a:r>
            <a:endParaRPr sz="1600">
              <a:solidFill>
                <a:schemeClr val="lt2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◇"/>
            </a:pPr>
            <a:r>
              <a:rPr lang="en" sz="1600">
                <a:solidFill>
                  <a:schemeClr val="lt2"/>
                </a:solidFill>
              </a:rPr>
              <a:t>filtering in aspects of diet restrictions and cuisines</a:t>
            </a:r>
            <a:endParaRPr sz="1600">
              <a:solidFill>
                <a:schemeClr val="lt2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◇"/>
            </a:pPr>
            <a:r>
              <a:rPr lang="en" sz="1600">
                <a:solidFill>
                  <a:schemeClr val="lt2"/>
                </a:solidFill>
              </a:rPr>
              <a:t>attaching an image that coincides with the recipes shown</a:t>
            </a:r>
            <a:endParaRPr sz="1600">
              <a:solidFill>
                <a:schemeClr val="lt2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◇"/>
            </a:pPr>
            <a:r>
              <a:rPr lang="en" sz="1600">
                <a:solidFill>
                  <a:schemeClr val="lt2"/>
                </a:solidFill>
              </a:rPr>
              <a:t>creating a grocery list for ingredients in said recipes</a:t>
            </a:r>
            <a:endParaRPr sz="1600">
              <a:solidFill>
                <a:schemeClr val="lt2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◇"/>
            </a:pPr>
            <a:r>
              <a:rPr lang="en" sz="1600">
                <a:solidFill>
                  <a:schemeClr val="lt2"/>
                </a:solidFill>
              </a:rPr>
              <a:t>allowing older recipes to be saved without worry about original copies</a:t>
            </a:r>
            <a:endParaRPr sz="16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Statement of Work</a:t>
            </a:r>
            <a:endParaRPr sz="5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902900" y="611026"/>
            <a:ext cx="7338300" cy="7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In-Scope Features</a:t>
            </a:r>
            <a:endParaRPr/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491625" y="1363600"/>
            <a:ext cx="8160900" cy="3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User Authentication System (Account creation, deletion, login and logout functionality)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Recipe Management (Create, update, read, delete recipes)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Recipe Organization (tagging system, filtering)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Measurement Conversion System (Server-side logic)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Grocery List Generation (Generated from selected recipes, checkbox-based)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Relational database Integration (Storage of users, recipes, tags, ingredients)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Cutting-Edge Component (AI generated ingredients list based on instructions)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Deployment (Application deployed to a local or cloud-hosted server)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902900" y="618030"/>
            <a:ext cx="7338300" cy="7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Acceptance Criteria</a:t>
            </a:r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498625" y="1356525"/>
            <a:ext cx="8153700" cy="32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Users can create an account, log in, and log out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Users can add/edit/delete recipes and see them persist in the database linked to user accounts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Users can save recipes locally as well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Users can organize recipes by tags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Measurement conversion works correctly for defined units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Grocery list generation produces a check </a:t>
            </a:r>
            <a:r>
              <a:rPr lang="en" sz="1600">
                <a:solidFill>
                  <a:schemeClr val="dk1"/>
                </a:solidFill>
              </a:rPr>
              <a:t>list</a:t>
            </a:r>
            <a:r>
              <a:rPr lang="en" sz="1600">
                <a:solidFill>
                  <a:schemeClr val="dk1"/>
                </a:solidFill>
              </a:rPr>
              <a:t> from recipes and merges duplicates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Cutting-edge feature works as described (AI generated ingredient list) </a:t>
            </a:r>
            <a:r>
              <a:rPr lang="en" sz="1600">
                <a:solidFill>
                  <a:schemeClr val="dk1"/>
                </a:solidFill>
              </a:rPr>
              <a:t>and is demonstrated live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⬗"/>
            </a:pPr>
            <a:r>
              <a:rPr lang="en" sz="1600">
                <a:solidFill>
                  <a:schemeClr val="dk1"/>
                </a:solidFill>
              </a:rPr>
              <a:t>The system runs without major errors and is deployed for access/testing (No runtime crashes, valid API endpoints, core features execute without failure)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Planned Future Work</a:t>
            </a:r>
            <a:endParaRPr sz="5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idx="4294967295" type="title"/>
          </p:nvPr>
        </p:nvSpPr>
        <p:spPr>
          <a:xfrm>
            <a:off x="902900" y="600559"/>
            <a:ext cx="7338300" cy="76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Phase 2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79" name="Google Shape;179;p30"/>
          <p:cNvSpPr txBox="1"/>
          <p:nvPr>
            <p:ph idx="4294967295" type="body"/>
          </p:nvPr>
        </p:nvSpPr>
        <p:spPr>
          <a:xfrm>
            <a:off x="501625" y="1363600"/>
            <a:ext cx="8146200" cy="32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⬗"/>
            </a:pPr>
            <a:r>
              <a:rPr lang="en" sz="1600">
                <a:solidFill>
                  <a:schemeClr val="lt2"/>
                </a:solidFill>
              </a:rPr>
              <a:t>Research Quasar, HTML, and Electron implementation.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⬗"/>
            </a:pPr>
            <a:r>
              <a:rPr lang="en" sz="1600">
                <a:solidFill>
                  <a:schemeClr val="lt2"/>
                </a:solidFill>
              </a:rPr>
              <a:t>Draw up initial UI/UX design documentation.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⬗"/>
            </a:pPr>
            <a:r>
              <a:rPr lang="en" sz="1600">
                <a:solidFill>
                  <a:schemeClr val="lt2"/>
                </a:solidFill>
              </a:rPr>
              <a:t>Compile</a:t>
            </a:r>
            <a:r>
              <a:rPr lang="en" sz="1600">
                <a:solidFill>
                  <a:schemeClr val="lt2"/>
                </a:solidFill>
              </a:rPr>
              <a:t> information on use of Quasar and Electron for interface construction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⬗"/>
            </a:pPr>
            <a:r>
              <a:rPr lang="en" sz="1600">
                <a:solidFill>
                  <a:schemeClr val="lt2"/>
                </a:solidFill>
              </a:rPr>
              <a:t>Begin implementation and testing of alpha UI and UX.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⬗"/>
            </a:pPr>
            <a:r>
              <a:rPr lang="en" sz="1600">
                <a:solidFill>
                  <a:schemeClr val="lt2"/>
                </a:solidFill>
              </a:rPr>
              <a:t>Implement any non-core client-side features. (dependent on progress relative to development timescale)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⬗"/>
            </a:pPr>
            <a:r>
              <a:rPr lang="en" sz="1600">
                <a:solidFill>
                  <a:schemeClr val="lt2"/>
                </a:solidFill>
              </a:rPr>
              <a:t>Finalize client-side alpha development pending server-side implementation.</a:t>
            </a:r>
            <a:endParaRPr sz="1600"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idx="4294967295" type="title"/>
          </p:nvPr>
        </p:nvSpPr>
        <p:spPr>
          <a:xfrm>
            <a:off x="902900" y="600550"/>
            <a:ext cx="73383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Phase 3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85" name="Google Shape;185;p31"/>
          <p:cNvSpPr txBox="1"/>
          <p:nvPr>
            <p:ph idx="4294967295" type="body"/>
          </p:nvPr>
        </p:nvSpPr>
        <p:spPr>
          <a:xfrm>
            <a:off x="501625" y="1370950"/>
            <a:ext cx="8139300" cy="32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⬗"/>
            </a:pPr>
            <a:r>
              <a:rPr lang="en" sz="1600">
                <a:solidFill>
                  <a:schemeClr val="lt2"/>
                </a:solidFill>
              </a:rPr>
              <a:t>Research and finalize intended databases, </a:t>
            </a:r>
            <a:r>
              <a:rPr lang="en" sz="1600">
                <a:solidFill>
                  <a:schemeClr val="lt2"/>
                </a:solidFill>
              </a:rPr>
              <a:t>web servers, backend frameworks, and back-end libraries.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⬗"/>
            </a:pPr>
            <a:r>
              <a:rPr lang="en" sz="1600">
                <a:solidFill>
                  <a:schemeClr val="lt2"/>
                </a:solidFill>
              </a:rPr>
              <a:t>Import necessary backend libraries to begin server-side development.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⬗"/>
            </a:pPr>
            <a:r>
              <a:rPr lang="en" sz="1600">
                <a:solidFill>
                  <a:schemeClr val="lt2"/>
                </a:solidFill>
              </a:rPr>
              <a:t>Begin construction and testing of databases and APIs for efficient server-client communication.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⬗"/>
            </a:pPr>
            <a:r>
              <a:rPr lang="en" sz="1600">
                <a:solidFill>
                  <a:schemeClr val="lt2"/>
                </a:solidFill>
              </a:rPr>
              <a:t>Establish web servers and begin implementation of server-side security measures including user authentication and account encryption.</a:t>
            </a:r>
            <a:endParaRPr sz="16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idx="4294967295" type="title"/>
          </p:nvPr>
        </p:nvSpPr>
        <p:spPr>
          <a:xfrm>
            <a:off x="902900" y="607600"/>
            <a:ext cx="7338300" cy="7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Phase 4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91" name="Google Shape;191;p32"/>
          <p:cNvSpPr txBox="1"/>
          <p:nvPr>
            <p:ph idx="4294967295" type="body"/>
          </p:nvPr>
        </p:nvSpPr>
        <p:spPr>
          <a:xfrm>
            <a:off x="494575" y="1370800"/>
            <a:ext cx="8146200" cy="32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Char char="⬗"/>
            </a:pPr>
            <a:r>
              <a:rPr lang="en" sz="1600">
                <a:solidFill>
                  <a:schemeClr val="lt2"/>
                </a:solidFill>
              </a:rPr>
              <a:t>Finalize front-end beta state post back-end implementation and connection between client and server.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⬗"/>
            </a:pPr>
            <a:r>
              <a:rPr lang="en" sz="1600">
                <a:solidFill>
                  <a:schemeClr val="lt2"/>
                </a:solidFill>
              </a:rPr>
              <a:t>Begin full software beta testing and refinement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⬗"/>
            </a:pPr>
            <a:r>
              <a:rPr lang="en" sz="1600">
                <a:solidFill>
                  <a:schemeClr val="lt2"/>
                </a:solidFill>
              </a:rPr>
              <a:t>Move forward with rigorous bug testing and collect feedback regarding usability, stability, and check for any beta user requested features that might be feasible with remaining time.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⬗"/>
            </a:pPr>
            <a:r>
              <a:rPr lang="en" sz="1600">
                <a:solidFill>
                  <a:schemeClr val="lt2"/>
                </a:solidFill>
              </a:rPr>
              <a:t>Shift program out of beta and prepare for full deployment</a:t>
            </a:r>
            <a:endParaRPr sz="16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elicanus template">
  <a:themeElements>
    <a:clrScheme name="Custom 347">
      <a:dk1>
        <a:srgbClr val="434343"/>
      </a:dk1>
      <a:lt1>
        <a:srgbClr val="FFFFFF"/>
      </a:lt1>
      <a:dk2>
        <a:srgbClr val="666666"/>
      </a:dk2>
      <a:lt2>
        <a:srgbClr val="EBE6E0"/>
      </a:lt2>
      <a:accent1>
        <a:srgbClr val="473D37"/>
      </a:accent1>
      <a:accent2>
        <a:srgbClr val="9E7C59"/>
      </a:accent2>
      <a:accent3>
        <a:srgbClr val="D8A869"/>
      </a:accent3>
      <a:accent4>
        <a:srgbClr val="627594"/>
      </a:accent4>
      <a:accent5>
        <a:srgbClr val="8AA4CE"/>
      </a:accent5>
      <a:accent6>
        <a:srgbClr val="AEBACF"/>
      </a:accent6>
      <a:hlink>
        <a:srgbClr val="43434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